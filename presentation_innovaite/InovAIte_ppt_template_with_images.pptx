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56" r:id="rId5"/>
    <p:sldId id="274" r:id="rId6"/>
    <p:sldId id="282" r:id="rId7"/>
    <p:sldId id="283" r:id="rId8"/>
    <p:sldId id="280" r:id="rId9"/>
    <p:sldId id="286" r:id="rId10"/>
    <p:sldId id="268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CF0"/>
    <a:srgbClr val="6D6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solidFill>
            <a:srgbClr val="4E4E4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solidFill>
            <a:srgbClr val="4E4E4E">
              <a:alpha val="20000"/>
            </a:srgbClr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508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600">
        <a:latin typeface="+mn-lt"/>
        <a:ea typeface="+mn-ea"/>
        <a:cs typeface="+mn-cs"/>
        <a:sym typeface="Calibri"/>
      </a:defRPr>
    </a:lvl1pPr>
    <a:lvl2pPr indent="228600" defTabSz="457200" latinLnBrk="0">
      <a:defRPr sz="600">
        <a:latin typeface="+mn-lt"/>
        <a:ea typeface="+mn-ea"/>
        <a:cs typeface="+mn-cs"/>
        <a:sym typeface="Calibri"/>
      </a:defRPr>
    </a:lvl2pPr>
    <a:lvl3pPr indent="457200" defTabSz="457200" latinLnBrk="0">
      <a:defRPr sz="600">
        <a:latin typeface="+mn-lt"/>
        <a:ea typeface="+mn-ea"/>
        <a:cs typeface="+mn-cs"/>
        <a:sym typeface="Calibri"/>
      </a:defRPr>
    </a:lvl3pPr>
    <a:lvl4pPr indent="685800" defTabSz="457200" latinLnBrk="0">
      <a:defRPr sz="600">
        <a:latin typeface="+mn-lt"/>
        <a:ea typeface="+mn-ea"/>
        <a:cs typeface="+mn-cs"/>
        <a:sym typeface="Calibri"/>
      </a:defRPr>
    </a:lvl4pPr>
    <a:lvl5pPr indent="914400" defTabSz="457200" latinLnBrk="0">
      <a:defRPr sz="600">
        <a:latin typeface="+mn-lt"/>
        <a:ea typeface="+mn-ea"/>
        <a:cs typeface="+mn-cs"/>
        <a:sym typeface="Calibri"/>
      </a:defRPr>
    </a:lvl5pPr>
    <a:lvl6pPr indent="1143000" defTabSz="457200" latinLnBrk="0">
      <a:defRPr sz="600">
        <a:latin typeface="+mn-lt"/>
        <a:ea typeface="+mn-ea"/>
        <a:cs typeface="+mn-cs"/>
        <a:sym typeface="Calibri"/>
      </a:defRPr>
    </a:lvl6pPr>
    <a:lvl7pPr indent="1371600" defTabSz="457200" latinLnBrk="0">
      <a:defRPr sz="600">
        <a:latin typeface="+mn-lt"/>
        <a:ea typeface="+mn-ea"/>
        <a:cs typeface="+mn-cs"/>
        <a:sym typeface="Calibri"/>
      </a:defRPr>
    </a:lvl7pPr>
    <a:lvl8pPr indent="1600200" defTabSz="457200" latinLnBrk="0">
      <a:defRPr sz="600">
        <a:latin typeface="+mn-lt"/>
        <a:ea typeface="+mn-ea"/>
        <a:cs typeface="+mn-cs"/>
        <a:sym typeface="Calibri"/>
      </a:defRPr>
    </a:lvl8pPr>
    <a:lvl9pPr indent="1828800" defTabSz="457200" latinLnBrk="0">
      <a:defRPr sz="6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rs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rame 86.png" descr="Frame 86.png"/>
          <p:cNvPicPr>
            <a:picLocks noChangeAspect="1"/>
          </p:cNvPicPr>
          <p:nvPr/>
        </p:nvPicPr>
        <p:blipFill>
          <a:blip r:embed="rId2"/>
          <a:srcRect l="6168" t="1214" r="6168" b="1214"/>
          <a:stretch>
            <a:fillRect/>
          </a:stretch>
        </p:blipFill>
        <p:spPr>
          <a:xfrm>
            <a:off x="0" y="-11206"/>
            <a:ext cx="12192000" cy="6880413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-21982" y="-19354"/>
            <a:ext cx="12235964" cy="6896708"/>
          </a:xfrm>
          <a:prstGeom prst="rect">
            <a:avLst/>
          </a:prstGeom>
          <a:gradFill>
            <a:gsLst>
              <a:gs pos="0">
                <a:srgbClr val="EE3B76">
                  <a:alpha val="80000"/>
                </a:srgbClr>
              </a:gs>
              <a:gs pos="100000">
                <a:srgbClr val="49416B">
                  <a:alpha val="80000"/>
                </a:srgbClr>
              </a:gs>
            </a:gsLst>
            <a:lin ang="19922704"/>
          </a:gradFill>
          <a:ln w="12700">
            <a:solidFill>
              <a:srgbClr val="017BFF">
                <a:alpha val="80000"/>
              </a:srgbClr>
            </a:solidFill>
            <a:miter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41525B07-7C0E-4556-9F08-028C5A58BDB2}"/>
              </a:ext>
            </a:extLst>
          </p:cNvPr>
          <p:cNvSpPr/>
          <p:nvPr userDrawn="1"/>
        </p:nvSpPr>
        <p:spPr>
          <a:xfrm rot="12514547">
            <a:off x="1809885" y="1059801"/>
            <a:ext cx="2671767" cy="4738398"/>
          </a:xfrm>
          <a:prstGeom prst="roundRect">
            <a:avLst>
              <a:gd name="adj" fmla="val 4994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33756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traight Connector 4"/>
          <p:cNvSpPr/>
          <p:nvPr userDrawn="1"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469596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437282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8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Graphic 18"/>
          <p:cNvSpPr/>
          <p:nvPr/>
        </p:nvSpPr>
        <p:spPr>
          <a:xfrm>
            <a:off x="9271720" y="3390896"/>
            <a:ext cx="3750615" cy="4084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1" extrusionOk="0">
                <a:moveTo>
                  <a:pt x="8509" y="554"/>
                </a:moveTo>
                <a:cubicBezTo>
                  <a:pt x="9927" y="-185"/>
                  <a:pt x="11673" y="-185"/>
                  <a:pt x="13091" y="554"/>
                </a:cubicBezTo>
                <a:lnTo>
                  <a:pt x="19309" y="3794"/>
                </a:lnTo>
                <a:cubicBezTo>
                  <a:pt x="20727" y="4532"/>
                  <a:pt x="21600" y="5898"/>
                  <a:pt x="21600" y="7375"/>
                </a:cubicBezTo>
                <a:lnTo>
                  <a:pt x="21600" y="13855"/>
                </a:lnTo>
                <a:cubicBezTo>
                  <a:pt x="21600" y="15332"/>
                  <a:pt x="20727" y="16698"/>
                  <a:pt x="19309" y="17436"/>
                </a:cubicBezTo>
                <a:lnTo>
                  <a:pt x="13091" y="20676"/>
                </a:lnTo>
                <a:cubicBezTo>
                  <a:pt x="11673" y="21415"/>
                  <a:pt x="9927" y="21415"/>
                  <a:pt x="8509" y="20676"/>
                </a:cubicBezTo>
                <a:lnTo>
                  <a:pt x="2291" y="17436"/>
                </a:lnTo>
                <a:cubicBezTo>
                  <a:pt x="873" y="16698"/>
                  <a:pt x="0" y="15332"/>
                  <a:pt x="0" y="13855"/>
                </a:cubicBezTo>
                <a:lnTo>
                  <a:pt x="0" y="7375"/>
                </a:lnTo>
                <a:cubicBezTo>
                  <a:pt x="0" y="5898"/>
                  <a:pt x="873" y="4532"/>
                  <a:pt x="2291" y="3794"/>
                </a:cubicBezTo>
                <a:lnTo>
                  <a:pt x="8509" y="55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pPr>
            <a:endParaRPr/>
          </a:p>
        </p:txBody>
      </p:sp>
      <p:sp>
        <p:nvSpPr>
          <p:cNvPr id="11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buBlip>
                <a:blip r:embed="rId3"/>
              </a:buBlip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8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buBlip>
                <a:blip r:embed="rId3"/>
              </a:buBlip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232412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MI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13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Rounded Rectangle"/>
          <p:cNvSpPr/>
          <p:nvPr/>
        </p:nvSpPr>
        <p:spPr>
          <a:xfrm>
            <a:off x="-2315700" y="1874488"/>
            <a:ext cx="12467123" cy="28579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142" name="Group"/>
          <p:cNvGrpSpPr/>
          <p:nvPr/>
        </p:nvGrpSpPr>
        <p:grpSpPr>
          <a:xfrm>
            <a:off x="9304276" y="3553928"/>
            <a:ext cx="1403628" cy="1528634"/>
            <a:chOff x="0" y="0"/>
            <a:chExt cx="1403626" cy="1528632"/>
          </a:xfrm>
        </p:grpSpPr>
        <p:sp>
          <p:nvSpPr>
            <p:cNvPr id="140" name="Group 2"/>
            <p:cNvSpPr/>
            <p:nvPr/>
          </p:nvSpPr>
          <p:spPr>
            <a:xfrm>
              <a:off x="-1" y="-1"/>
              <a:ext cx="1403628" cy="1528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1" extrusionOk="0">
                  <a:moveTo>
                    <a:pt x="8509" y="554"/>
                  </a:moveTo>
                  <a:cubicBezTo>
                    <a:pt x="9927" y="-185"/>
                    <a:pt x="11673" y="-185"/>
                    <a:pt x="13091" y="554"/>
                  </a:cubicBezTo>
                  <a:lnTo>
                    <a:pt x="19309" y="3794"/>
                  </a:lnTo>
                  <a:cubicBezTo>
                    <a:pt x="20727" y="4532"/>
                    <a:pt x="21600" y="5898"/>
                    <a:pt x="21600" y="7375"/>
                  </a:cubicBezTo>
                  <a:lnTo>
                    <a:pt x="21600" y="13855"/>
                  </a:lnTo>
                  <a:cubicBezTo>
                    <a:pt x="21600" y="15332"/>
                    <a:pt x="20727" y="16698"/>
                    <a:pt x="19309" y="17436"/>
                  </a:cubicBezTo>
                  <a:lnTo>
                    <a:pt x="13091" y="20676"/>
                  </a:lnTo>
                  <a:cubicBezTo>
                    <a:pt x="11673" y="21415"/>
                    <a:pt x="9927" y="21415"/>
                    <a:pt x="8509" y="20676"/>
                  </a:cubicBezTo>
                  <a:lnTo>
                    <a:pt x="2291" y="17436"/>
                  </a:lnTo>
                  <a:cubicBezTo>
                    <a:pt x="873" y="16698"/>
                    <a:pt x="0" y="15332"/>
                    <a:pt x="0" y="13855"/>
                  </a:cubicBezTo>
                  <a:lnTo>
                    <a:pt x="0" y="7375"/>
                  </a:lnTo>
                  <a:cubicBezTo>
                    <a:pt x="0" y="5898"/>
                    <a:pt x="873" y="4532"/>
                    <a:pt x="2291" y="3794"/>
                  </a:cubicBezTo>
                  <a:lnTo>
                    <a:pt x="8509" y="55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9416B"/>
                </a:gs>
                <a:gs pos="100000">
                  <a:srgbClr val="EE3B76"/>
                </a:gs>
              </a:gsLst>
              <a:lin ang="13500000" scaled="0"/>
            </a:gradFill>
            <a:ln w="12700" cap="flat">
              <a:noFill/>
              <a:miter lim="400000"/>
            </a:ln>
            <a:effectLst>
              <a:outerShdw blurRad="1270000" dist="635000" dir="5400000" rotWithShape="0">
                <a:srgbClr val="000000">
                  <a:alpha val="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pic>
          <p:nvPicPr>
            <p:cNvPr id="141" name="AI_logo.svg" descr="AI_logo.sv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25" y="452590"/>
              <a:ext cx="750777" cy="623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5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969371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IDLE G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13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Rounded Rectangle"/>
          <p:cNvSpPr/>
          <p:nvPr/>
        </p:nvSpPr>
        <p:spPr>
          <a:xfrm>
            <a:off x="-2315700" y="1874488"/>
            <a:ext cx="12467123" cy="28579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F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Text"/>
          <p:cNvSpPr txBox="1">
            <a:spLocks noGrp="1"/>
          </p:cNvSpPr>
          <p:nvPr>
            <p:ph type="title"/>
          </p:nvPr>
        </p:nvSpPr>
        <p:spPr>
          <a:xfrm>
            <a:off x="667624" y="565551"/>
            <a:ext cx="10856752" cy="88718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80000"/>
              </a:lnSpc>
            </a:lvl1pPr>
          </a:lstStyle>
          <a:p>
            <a:r>
              <a:t>Title Text</a:t>
            </a:r>
          </a:p>
        </p:txBody>
      </p:sp>
      <p:sp>
        <p:nvSpPr>
          <p:cNvPr id="178" name="TextBox 1"/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79" name="TextBox 3"/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InnovAIte</a:t>
            </a:r>
          </a:p>
        </p:txBody>
      </p:sp>
      <p:sp>
        <p:nvSpPr>
          <p:cNvPr id="180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1" name="任意形状 1945"/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rs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rame 86.png" descr="Frame 86.png"/>
          <p:cNvPicPr>
            <a:picLocks noChangeAspect="1"/>
          </p:cNvPicPr>
          <p:nvPr/>
        </p:nvPicPr>
        <p:blipFill>
          <a:blip r:embed="rId2"/>
          <a:srcRect l="6168" t="1214" r="6168" b="1214"/>
          <a:stretch>
            <a:fillRect/>
          </a:stretch>
        </p:blipFill>
        <p:spPr>
          <a:xfrm>
            <a:off x="0" y="-11206"/>
            <a:ext cx="12192000" cy="6880413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-21982" y="-19354"/>
            <a:ext cx="12235964" cy="6896708"/>
          </a:xfrm>
          <a:prstGeom prst="rect">
            <a:avLst/>
          </a:prstGeom>
          <a:gradFill>
            <a:gsLst>
              <a:gs pos="0">
                <a:srgbClr val="EE3B76">
                  <a:alpha val="80000"/>
                </a:srgbClr>
              </a:gs>
              <a:gs pos="100000">
                <a:srgbClr val="49416B">
                  <a:alpha val="80000"/>
                </a:srgbClr>
              </a:gs>
            </a:gsLst>
            <a:lin ang="19922704"/>
          </a:gradFill>
          <a:ln w="12700">
            <a:solidFill>
              <a:srgbClr val="017BFF">
                <a:alpha val="80000"/>
              </a:srgbClr>
            </a:solidFill>
            <a:miter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Your Partner in…">
            <a:extLst>
              <a:ext uri="{FF2B5EF4-FFF2-40B4-BE49-F238E27FC236}">
                <a16:creationId xmlns:a16="http://schemas.microsoft.com/office/drawing/2014/main" id="{412189AE-40A2-4345-A4C2-B5DF9C868A70}"/>
              </a:ext>
            </a:extLst>
          </p:cNvPr>
          <p:cNvSpPr txBox="1">
            <a:spLocks noGrp="1"/>
          </p:cNvSpPr>
          <p:nvPr>
            <p:ph type="title" idx="4294967295" hasCustomPrompt="1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/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Thank You for Your Attention</a:t>
            </a:r>
            <a:endParaRPr dirty="0"/>
          </a:p>
        </p:txBody>
      </p:sp>
      <p:pic>
        <p:nvPicPr>
          <p:cNvPr id="7" name="logo.svg" descr="logo.svg">
            <a:extLst>
              <a:ext uri="{FF2B5EF4-FFF2-40B4-BE49-F238E27FC236}">
                <a16:creationId xmlns:a16="http://schemas.microsoft.com/office/drawing/2014/main" id="{07D61730-7B84-4094-B6E8-13E8E69B50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54" y="1464437"/>
            <a:ext cx="2548692" cy="715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9FE22BA-A3BF-4B7E-969D-36FCD23057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180" y="5393563"/>
            <a:ext cx="9971240" cy="11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6752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ots.svg" descr="dots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96040" y="89222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raphic 18"/>
          <p:cNvSpPr/>
          <p:nvPr/>
        </p:nvSpPr>
        <p:spPr>
          <a:xfrm>
            <a:off x="9271720" y="3390896"/>
            <a:ext cx="3750615" cy="4084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1" extrusionOk="0">
                <a:moveTo>
                  <a:pt x="8509" y="554"/>
                </a:moveTo>
                <a:cubicBezTo>
                  <a:pt x="9927" y="-185"/>
                  <a:pt x="11673" y="-185"/>
                  <a:pt x="13091" y="554"/>
                </a:cubicBezTo>
                <a:lnTo>
                  <a:pt x="19309" y="3794"/>
                </a:lnTo>
                <a:cubicBezTo>
                  <a:pt x="20727" y="4532"/>
                  <a:pt x="21600" y="5898"/>
                  <a:pt x="21600" y="7375"/>
                </a:cubicBezTo>
                <a:lnTo>
                  <a:pt x="21600" y="13855"/>
                </a:lnTo>
                <a:cubicBezTo>
                  <a:pt x="21600" y="15332"/>
                  <a:pt x="20727" y="16698"/>
                  <a:pt x="19309" y="17436"/>
                </a:cubicBezTo>
                <a:lnTo>
                  <a:pt x="13091" y="20676"/>
                </a:lnTo>
                <a:cubicBezTo>
                  <a:pt x="11673" y="21415"/>
                  <a:pt x="9927" y="21415"/>
                  <a:pt x="8509" y="20676"/>
                </a:cubicBezTo>
                <a:lnTo>
                  <a:pt x="2291" y="17436"/>
                </a:lnTo>
                <a:cubicBezTo>
                  <a:pt x="873" y="16698"/>
                  <a:pt x="0" y="15332"/>
                  <a:pt x="0" y="13855"/>
                </a:cubicBezTo>
                <a:lnTo>
                  <a:pt x="0" y="7375"/>
                </a:lnTo>
                <a:cubicBezTo>
                  <a:pt x="0" y="5898"/>
                  <a:pt x="873" y="4532"/>
                  <a:pt x="2291" y="3794"/>
                </a:cubicBezTo>
                <a:lnTo>
                  <a:pt x="8509" y="55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54779" y="650232"/>
            <a:ext cx="10118930" cy="47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54779" y="1426858"/>
            <a:ext cx="10882442" cy="472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3pPr marL="304800" indent="-304800">
              <a:buSzPct val="50000"/>
              <a:buBlip>
                <a:blip r:embed="rId13"/>
              </a:buBlip>
            </a:lvl3pPr>
            <a:lvl4pPr>
              <a:buClr>
                <a:srgbClr val="EE3B76"/>
              </a:buClr>
            </a:lvl4pPr>
            <a:lvl5pPr>
              <a:buClr>
                <a:srgbClr val="EE3B76"/>
              </a:buCl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>
                <a:solidFill>
                  <a:srgbClr val="BFBFBF"/>
                </a:solidFill>
              </a:rPr>
              <a:t>Text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dirty="0">
                <a:solidFill>
                  <a:srgbClr val="BFBFBF"/>
                </a:soli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r>
              <a:rPr lang="en-US" dirty="0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endParaRPr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InnovAIte</a:t>
            </a:r>
          </a:p>
        </p:txBody>
      </p:sp>
      <p:sp>
        <p:nvSpPr>
          <p:cNvPr id="8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9" name="任意形状 1945"/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9715" y="206288"/>
            <a:ext cx="187155" cy="210819"/>
          </a:xfrm>
          <a:prstGeom prst="rect">
            <a:avLst/>
          </a:prstGeom>
          <a:ln w="12700">
            <a:miter lim="400000"/>
          </a:ln>
        </p:spPr>
        <p:txBody>
          <a:bodyPr wrap="none" lIns="22859" tIns="22859" rIns="22859" bIns="22859" anchor="ctr">
            <a:spAutoFit/>
          </a:bodyPr>
          <a:lstStyle>
            <a:lvl1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5" r:id="rId4"/>
    <p:sldLayoutId id="2147483655" r:id="rId5"/>
    <p:sldLayoutId id="2147483666" r:id="rId6"/>
    <p:sldLayoutId id="2147483663" r:id="rId7"/>
    <p:sldLayoutId id="2147483658" r:id="rId8"/>
    <p:sldLayoutId id="2147483660" r:id="rId9"/>
    <p:sldLayoutId id="2147483661" r:id="rId10"/>
  </p:sldLayoutIdLst>
  <p:transition spd="med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1pPr>
      <a:lvl2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2pPr>
      <a:lvl3pPr marL="319314" marR="0" indent="-319314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Blip>
          <a:blip r:embed="rId14"/>
        </a:buBlip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3pPr>
      <a:lvl4pPr marL="487172" marR="0" indent="-195072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4pPr>
      <a:lvl5pPr marL="664972" marR="0" indent="-195072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5pPr>
      <a:lvl6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6pPr>
      <a:lvl7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7pPr>
      <a:lvl8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8pPr>
      <a:lvl9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Your Partner in…"/>
          <p:cNvSpPr txBox="1">
            <a:spLocks noGrp="1"/>
          </p:cNvSpPr>
          <p:nvPr>
            <p:ph type="title" idx="4294967295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>
            <a:noAutofit/>
          </a:bodyPr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sz="4000" dirty="0"/>
              <a:t> </a:t>
            </a:r>
            <a:r>
              <a:rPr lang="en-GB" sz="3200" dirty="0"/>
              <a:t>Dependency-Aware Code Smell Refactoring via</a:t>
            </a:r>
            <a:br>
              <a:rPr lang="en-GB" sz="3200" dirty="0"/>
            </a:br>
            <a:r>
              <a:rPr lang="en-GB" sz="3200" dirty="0"/>
              <a:t>Multi-Agent LLM System</a:t>
            </a:r>
            <a:br>
              <a:rPr lang="en-GB" sz="3200" dirty="0"/>
            </a:br>
            <a:endParaRPr sz="4000" dirty="0"/>
          </a:p>
        </p:txBody>
      </p:sp>
      <p:pic>
        <p:nvPicPr>
          <p:cNvPr id="194" name="logo.svg" descr="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54" y="1464437"/>
            <a:ext cx="2548692" cy="71564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AB3262-0985-4675-A77B-320AD9C008C8}"/>
              </a:ext>
            </a:extLst>
          </p:cNvPr>
          <p:cNvSpPr txBox="1"/>
          <p:nvPr/>
        </p:nvSpPr>
        <p:spPr>
          <a:xfrm>
            <a:off x="4171013" y="3534842"/>
            <a:ext cx="3787573" cy="5632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2859" tIns="22859" rIns="22859" bIns="22859" numCol="1" spcCol="38100" rtlCol="0" anchor="t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+mj-lt"/>
              </a:rPr>
              <a:t>Havriil Pietukhin, Ivan Polášek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49A3325-3027-4BE9-B3A4-46BC5624C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180" y="5393563"/>
            <a:ext cx="9971240" cy="11336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AA5E7E07-EA86-402B-8D3B-8FA0C24383B3}"/>
              </a:ext>
            </a:extLst>
          </p:cNvPr>
          <p:cNvSpPr txBox="1">
            <a:spLocks/>
          </p:cNvSpPr>
          <p:nvPr/>
        </p:nvSpPr>
        <p:spPr>
          <a:xfrm>
            <a:off x="5724927" y="1451607"/>
            <a:ext cx="5140108" cy="387867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Developers often fix code smells one at a time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In real projects, smells interact: fixing one can create another</a:t>
            </a:r>
            <a:endParaRPr lang="uk-UA" sz="1800" dirty="0"/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 Current tools don’t reliably handle these dependencies, so they can choose an order that introduces new smells or leaves the code only partially improved.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LLMs can edit code, but the order of edits still matters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GB" sz="1800" dirty="0"/>
              <a:t>Goal: </a:t>
            </a:r>
            <a:r>
              <a:rPr lang="en-US" sz="1800" dirty="0"/>
              <a:t>optimize refactoring process</a:t>
            </a:r>
            <a:r>
              <a:rPr lang="ru-RU" sz="1800" dirty="0"/>
              <a:t> </a:t>
            </a:r>
            <a:r>
              <a:rPr lang="en-GB" sz="1800" dirty="0"/>
              <a:t>by planning a safer order</a:t>
            </a:r>
            <a:r>
              <a:rPr lang="ru-RU" sz="1800" dirty="0"/>
              <a:t> </a:t>
            </a:r>
            <a:r>
              <a:rPr lang="en-US" sz="1800" dirty="0"/>
              <a:t>of edits</a:t>
            </a:r>
            <a:endParaRPr lang="en-US" sz="2200" dirty="0">
              <a:solidFill>
                <a:srgbClr val="11233F"/>
              </a:solidFill>
              <a:latin typeface="+mn-lt"/>
            </a:endParaRP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D2FA4577-FA6F-4A7F-A576-E745A802AA2B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Research goal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2967037-30DA-4FA0-9B55-FC1F44EB536F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lang="en-US" spc="-110"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A25A05A-AE95-4258-8476-DB48DD3AEA69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04902AAA-2153-4FF2-B9EB-C129B71AB6B1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7" name="Picture 6" descr="smellh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37560"/>
            <a:ext cx="4526280" cy="154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9569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20C6-AB49-A02A-1399-BB17467F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BA89B83E-C100-56F5-DF8A-36DD39E95657}"/>
              </a:ext>
            </a:extLst>
          </p:cNvPr>
          <p:cNvSpPr txBox="1">
            <a:spLocks/>
          </p:cNvSpPr>
          <p:nvPr/>
        </p:nvSpPr>
        <p:spPr>
          <a:xfrm>
            <a:off x="5724927" y="1451608"/>
            <a:ext cx="5140108" cy="343650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Each detected smell is a node in a graph.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Green edges show cases where one refactoring may remove another smell.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Red edges show cases where one refactoring may create another smell.</a:t>
            </a:r>
            <a:endParaRPr lang="en-US" sz="2200" dirty="0">
              <a:solidFill>
                <a:srgbClr val="11233F"/>
              </a:solidFill>
              <a:latin typeface="+mn-lt"/>
            </a:endParaRP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The planner uses this graph to choose a safer order of actions.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The graph can also store extra attributes, for example smell weight or project-specific priority.</a:t>
            </a: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2137C464-B151-B832-6891-0234EB98A911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Dependency model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B606A8B-FE93-1FFF-FE57-69EA589DD047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kumimoji="0" lang="en-US" sz="1600" b="0" i="0" u="none" strike="noStrike" cap="none" spc="-110" normalizeH="0" baseline="0" dirty="0">
              <a:ln>
                <a:noFill/>
              </a:ln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effectLst/>
              <a:uFillTx/>
              <a:latin typeface="Helvetica"/>
              <a:ea typeface="Helvetica"/>
              <a:cs typeface="Helvetica"/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4FF2AF1-D987-D7D7-42A1-E6DE745C0DBB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5D002167-FDBA-859D-E1F3-879C17026B95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7" name="Picture 6" descr="dep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365524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52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49C2-2CF6-0A0E-10A7-4DF4DE8F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048B89C2-C57E-31E6-C6E8-11EA61A3BA5D}"/>
              </a:ext>
            </a:extLst>
          </p:cNvPr>
          <p:cNvSpPr txBox="1">
            <a:spLocks/>
          </p:cNvSpPr>
          <p:nvPr/>
        </p:nvSpPr>
        <p:spPr>
          <a:xfrm>
            <a:off x="5724927" y="1451608"/>
            <a:ext cx="5140108" cy="343650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1. Load the Java project and check the build/test setup.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2. </a:t>
            </a:r>
            <a:r>
              <a:rPr lang="en-GB" sz="1800" i="1" dirty="0"/>
              <a:t>Detect</a:t>
            </a:r>
            <a:r>
              <a:rPr lang="en-GB" sz="1800" dirty="0"/>
              <a:t> smells with SonarQube.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3. Let the developer choose target smells.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4. Build the smell dependency graph.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5. Plan the order of </a:t>
            </a:r>
            <a:r>
              <a:rPr lang="en-GB" sz="1800" dirty="0" err="1"/>
              <a:t>refactorings</a:t>
            </a:r>
            <a:r>
              <a:rPr lang="en-GB" sz="1800" dirty="0"/>
              <a:t>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6. Apply changes with an LLM agent and validate them with tests and code quality metrics.</a:t>
            </a: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1E4C8332-0237-E746-588B-0186E79195A1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Code processing pipeline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99DA303C-D72F-79E0-E629-5B2783973740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lang="en-US" spc="-110"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0FBA665-59C4-E7AB-3518-001EE992B528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21F8B242-A265-D252-05D2-8F44C443581E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0"/>
            <a:ext cx="10241280" cy="11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884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C5A21E0-4CEB-4E61-AC54-88F19C8130AC}"/>
              </a:ext>
            </a:extLst>
          </p:cNvPr>
          <p:cNvSpPr txBox="1">
            <a:spLocks/>
          </p:cNvSpPr>
          <p:nvPr/>
        </p:nvSpPr>
        <p:spPr>
          <a:xfrm>
            <a:off x="654778" y="650232"/>
            <a:ext cx="10882441" cy="7766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500" dirty="0">
                <a:latin typeface="+mj-lt"/>
              </a:rPr>
              <a:t>Planning algorithms</a:t>
            </a:r>
          </a:p>
        </p:txBody>
      </p:sp>
      <p:sp>
        <p:nvSpPr>
          <p:cNvPr id="8" name="Body Level One…">
            <a:extLst>
              <a:ext uri="{FF2B5EF4-FFF2-40B4-BE49-F238E27FC236}">
                <a16:creationId xmlns:a16="http://schemas.microsoft.com/office/drawing/2014/main" id="{752588F4-6600-4940-BCE9-3CC40FAA9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4777" y="1426858"/>
            <a:ext cx="10882442" cy="4727150"/>
          </a:xfrm>
          <a:prstGeom prst="rect">
            <a:avLst/>
          </a:prstGeom>
        </p:spPr>
        <p:txBody>
          <a:bodyPr/>
          <a:lstStyle>
            <a:lvl3pPr>
              <a:buBlip>
                <a:blip r:embed="rId2"/>
              </a:buBlip>
            </a:lvl3pPr>
          </a:lstStyle>
          <a:p>
            <a:endParaRPr lang="en-GB" dirty="0"/>
          </a:p>
          <a:p>
            <a:r>
              <a:rPr lang="en-GB" dirty="0"/>
              <a:t>Refactoring order matters: one fix can remove or create other smells.</a:t>
            </a:r>
            <a:endParaRPr dirty="0"/>
          </a:p>
          <a:p>
            <a:pPr lvl="2">
              <a:buSzPct val="80000"/>
            </a:pPr>
            <a:r>
              <a:rPr lang="en-GB" dirty="0"/>
              <a:t>The planner builds a dependency graph between detected smells</a:t>
            </a:r>
          </a:p>
          <a:p>
            <a:pPr lvl="2">
              <a:buSzPct val="80000"/>
            </a:pPr>
            <a:r>
              <a:rPr lang="en-GB" dirty="0"/>
              <a:t>Green edges show smells that may disappear together.</a:t>
            </a:r>
          </a:p>
          <a:p>
            <a:pPr lvl="2">
              <a:buSzPct val="80000"/>
            </a:pPr>
            <a:r>
              <a:rPr lang="en-GB" dirty="0"/>
              <a:t>Red edges show smells that may be introduced by a refactoring.</a:t>
            </a:r>
            <a:br>
              <a:rPr lang="en-GB" dirty="0"/>
            </a:br>
            <a:endParaRPr lang="en-GB" dirty="0"/>
          </a:p>
          <a:p>
            <a:pPr marL="0" lvl="2" indent="0">
              <a:buSzPct val="80000"/>
              <a:buNone/>
            </a:pPr>
            <a:r>
              <a:rPr lang="en-GB" dirty="0"/>
              <a:t>We propose two approaches:</a:t>
            </a:r>
          </a:p>
          <a:p>
            <a:pPr lvl="2">
              <a:buSzPct val="80000"/>
            </a:pPr>
            <a:r>
              <a:rPr lang="en-GB" dirty="0"/>
              <a:t>Greedy planning selects the best-looking smell now, but may trigger new problems</a:t>
            </a:r>
          </a:p>
          <a:p>
            <a:pPr lvl="2">
              <a:buSzPct val="80000"/>
            </a:pPr>
            <a:r>
              <a:rPr lang="en-GB" dirty="0"/>
              <a:t>Best-First Search looks ahead and chooses the next step that leads to a cleaner future state.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78058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C494-A318-D5B5-DE4A-47D04AEB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FCC4E2-F68E-5E69-0142-7B2EFEF46777}"/>
              </a:ext>
            </a:extLst>
          </p:cNvPr>
          <p:cNvSpPr txBox="1">
            <a:spLocks/>
          </p:cNvSpPr>
          <p:nvPr/>
        </p:nvSpPr>
        <p:spPr>
          <a:xfrm>
            <a:off x="654778" y="650232"/>
            <a:ext cx="10882441" cy="7766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500" dirty="0">
                <a:latin typeface="+mj-lt"/>
              </a:rPr>
              <a:t>Future work</a:t>
            </a:r>
          </a:p>
        </p:txBody>
      </p:sp>
      <p:sp>
        <p:nvSpPr>
          <p:cNvPr id="8" name="Body Level One…">
            <a:extLst>
              <a:ext uri="{FF2B5EF4-FFF2-40B4-BE49-F238E27FC236}">
                <a16:creationId xmlns:a16="http://schemas.microsoft.com/office/drawing/2014/main" id="{BF1728BB-3C12-6B7C-666F-798FEB88F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4777" y="1426858"/>
            <a:ext cx="10882442" cy="4727150"/>
          </a:xfrm>
          <a:prstGeom prst="rect">
            <a:avLst/>
          </a:prstGeom>
        </p:spPr>
        <p:txBody>
          <a:bodyPr/>
          <a:lstStyle>
            <a:lvl3pPr>
              <a:buBlip>
                <a:blip r:embed="rId2"/>
              </a:buBlip>
            </a:lvl3pPr>
          </a:lstStyle>
          <a:p>
            <a:endParaRPr lang="en-GB" dirty="0"/>
          </a:p>
          <a:p>
            <a:pPr lvl="2">
              <a:buSzPct val="80000"/>
            </a:pPr>
            <a:r>
              <a:rPr lang="en-GB" dirty="0"/>
              <a:t>Evaluate planning quality across developer-committed refactoring sequences.</a:t>
            </a:r>
          </a:p>
          <a:p>
            <a:pPr lvl="2">
              <a:buSzPct val="80000"/>
            </a:pPr>
            <a:r>
              <a:rPr lang="en-GB" dirty="0"/>
              <a:t>Validate dependency rules against empirical smell trajectories.</a:t>
            </a:r>
          </a:p>
          <a:p>
            <a:pPr lvl="2">
              <a:buSzPct val="80000"/>
            </a:pPr>
            <a:r>
              <a:rPr lang="en-GB" dirty="0"/>
              <a:t>Extend the dependency model with additional smell types and refactoring operations.</a:t>
            </a:r>
          </a:p>
          <a:p>
            <a:pPr lvl="2">
              <a:buSzPct val="80000"/>
            </a:pPr>
            <a:r>
              <a:rPr lang="en-GB" dirty="0"/>
              <a:t>Measure plan efficiency, negative dependency rate, and compile/test pass rate after each LLM patch.</a:t>
            </a:r>
          </a:p>
        </p:txBody>
      </p:sp>
    </p:spTree>
    <p:extLst>
      <p:ext uri="{BB962C8B-B14F-4D97-AF65-F5344CB8AC3E}">
        <p14:creationId xmlns:p14="http://schemas.microsoft.com/office/powerpoint/2010/main" val="15155285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Your Partner in…">
            <a:extLst>
              <a:ext uri="{FF2B5EF4-FFF2-40B4-BE49-F238E27FC236}">
                <a16:creationId xmlns:a16="http://schemas.microsoft.com/office/drawing/2014/main" id="{DA54E3C6-24A0-4269-8259-B26E8B20697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>
            <a:normAutofit fontScale="90000"/>
          </a:bodyPr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Thank You for Your Attention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078556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4E4E4E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fc47d0-5264-4ef4-9ffb-97207c529b88">
      <Terms xmlns="http://schemas.microsoft.com/office/infopath/2007/PartnerControls"/>
    </lcf76f155ced4ddcb4097134ff3c332f>
    <TaxCatchAll xmlns="045149ca-02b3-4cc9-a5e3-542ecec7159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7DAF72BE55540BC70C48126C554ED" ma:contentTypeVersion="14" ma:contentTypeDescription="Create a new document." ma:contentTypeScope="" ma:versionID="4d84449352bd566abed30360156cdcf9">
  <xsd:schema xmlns:xsd="http://www.w3.org/2001/XMLSchema" xmlns:xs="http://www.w3.org/2001/XMLSchema" xmlns:p="http://schemas.microsoft.com/office/2006/metadata/properties" xmlns:ns2="aefc47d0-5264-4ef4-9ffb-97207c529b88" xmlns:ns3="045149ca-02b3-4cc9-a5e3-542ecec7159f" targetNamespace="http://schemas.microsoft.com/office/2006/metadata/properties" ma:root="true" ma:fieldsID="7dfcd1e10f7256a498acdcc0d7812263" ns2:_="" ns3:_="">
    <xsd:import namespace="aefc47d0-5264-4ef4-9ffb-97207c529b88"/>
    <xsd:import namespace="045149ca-02b3-4cc9-a5e3-542ecec71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fc47d0-5264-4ef4-9ffb-97207c529b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ef0d258-0237-4f63-961d-72f33aae77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149ca-02b3-4cc9-a5e3-542ecec7159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eb41293-e279-4029-92b7-14dd7bc271af}" ma:internalName="TaxCatchAll" ma:showField="CatchAllData" ma:web="045149ca-02b3-4cc9-a5e3-542ecec715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BAF2B3-4082-4B65-9F9C-3F91DAA99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197DA8-A262-4E9A-B13B-D15E9B1120AB}">
  <ds:schemaRefs>
    <ds:schemaRef ds:uri="http://schemas.microsoft.com/office/2006/metadata/properties"/>
    <ds:schemaRef ds:uri="http://schemas.microsoft.com/office/infopath/2007/PartnerControls"/>
    <ds:schemaRef ds:uri="aefc47d0-5264-4ef4-9ffb-97207c529b88"/>
    <ds:schemaRef ds:uri="045149ca-02b3-4cc9-a5e3-542ecec7159f"/>
  </ds:schemaRefs>
</ds:datastoreItem>
</file>

<file path=customXml/itemProps3.xml><?xml version="1.0" encoding="utf-8"?>
<ds:datastoreItem xmlns:ds="http://schemas.openxmlformats.org/officeDocument/2006/customXml" ds:itemID="{6A545C2A-3BEB-4104-825F-9D9E0752F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fc47d0-5264-4ef4-9ffb-97207c529b88"/>
    <ds:schemaRef ds:uri="045149ca-02b3-4cc9-a5e3-542ecec715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373</Words>
  <Application>Microsoft Macintosh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Helvetica</vt:lpstr>
      <vt:lpstr>Manrope</vt:lpstr>
      <vt:lpstr>Montserrat Bold</vt:lpstr>
      <vt:lpstr>Montserrat Regular</vt:lpstr>
      <vt:lpstr>Office Theme</vt:lpstr>
      <vt:lpstr> Dependency-Aware Code Smell Refactoring via Multi-Agent LLM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</dc:title>
  <dc:creator>Bohdan Inna</dc:creator>
  <cp:lastModifiedBy>Pietukhin Havriil</cp:lastModifiedBy>
  <cp:revision>28</cp:revision>
  <dcterms:modified xsi:type="dcterms:W3CDTF">2026-04-28T19:14:13Z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0x0101009627DAF72BE55540BC70C48126C554ED</vt:lpwstr>
  </property>
</Properties>
</file>